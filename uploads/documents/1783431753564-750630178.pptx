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2" r:id="rId5"/>
    <p:sldId id="258" r:id="rId6"/>
    <p:sldId id="260" r:id="rId7"/>
    <p:sldId id="277" r:id="rId8"/>
    <p:sldId id="278" r:id="rId9"/>
    <p:sldId id="263" r:id="rId10"/>
    <p:sldId id="287" r:id="rId11"/>
    <p:sldId id="267" r:id="rId12"/>
    <p:sldId id="268" r:id="rId13"/>
    <p:sldId id="276"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2B7F0CC-6C38-486D-9A54-BEF597C22FCD}">
          <p14:sldIdLst>
            <p14:sldId id="256"/>
            <p14:sldId id="257"/>
            <p14:sldId id="262"/>
            <p14:sldId id="258"/>
            <p14:sldId id="260"/>
            <p14:sldId id="277"/>
            <p14:sldId id="278"/>
            <p14:sldId id="263"/>
            <p14:sldId id="287"/>
            <p14:sldId id="267"/>
            <p14:sldId id="268"/>
            <p14:sldId id="276"/>
          </p14:sldIdLst>
        </p14:section>
      </p14:sectionLst>
    </p:ext>
    <p:ext uri="{EFAFB233-063F-42B5-8137-9DF3F51BA10A}">
      <p15:sldGuideLst xmlns:p15="http://schemas.microsoft.com/office/powerpoint/2012/main">
        <p15:guide id="1" orient="horz" pos="2292" userDrawn="1">
          <p15:clr>
            <a:srgbClr val="A4A3A4"/>
          </p15:clr>
        </p15:guide>
        <p15:guide id="2" pos="3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69D3"/>
    <a:srgbClr val="FFFFFF"/>
    <a:srgbClr val="FAFAFA"/>
    <a:srgbClr val="DCDCDC"/>
    <a:srgbClr val="F0F0F0"/>
    <a:srgbClr val="E6E6E6"/>
    <a:srgbClr val="C8C8C8"/>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67" d="100"/>
          <a:sy n="67" d="100"/>
        </p:scale>
        <p:origin x="688" y="68"/>
      </p:cViewPr>
      <p:guideLst>
        <p:guide orient="horz" pos="2292"/>
        <p:guide pos="384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64.xml"/><Relationship Id="rId4" Type="http://schemas.openxmlformats.org/officeDocument/2006/relationships/image" Target="../media/image2.png"/><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6.xml"/><Relationship Id="rId3" Type="http://schemas.openxmlformats.org/officeDocument/2006/relationships/image" Target="../media/image3.png"/><Relationship Id="rId2" Type="http://schemas.openxmlformats.org/officeDocument/2006/relationships/tags" Target="../tags/tag65.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8.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67.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0.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tags" Target="../tags/tag69.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2.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3.png"/><Relationship Id="rId2" Type="http://schemas.openxmlformats.org/officeDocument/2006/relationships/tags" Target="../tags/tag7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4.xml"/><Relationship Id="rId4" Type="http://schemas.openxmlformats.org/officeDocument/2006/relationships/image" Target="../media/image10.png"/><Relationship Id="rId3" Type="http://schemas.openxmlformats.org/officeDocument/2006/relationships/image" Target="../media/image3.png"/><Relationship Id="rId2" Type="http://schemas.openxmlformats.org/officeDocument/2006/relationships/tags" Target="../tags/tag73.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6.xml"/><Relationship Id="rId4" Type="http://schemas.openxmlformats.org/officeDocument/2006/relationships/image" Target="../media/image11.png"/><Relationship Id="rId3" Type="http://schemas.openxmlformats.org/officeDocument/2006/relationships/image" Target="../media/image3.png"/><Relationship Id="rId2" Type="http://schemas.openxmlformats.org/officeDocument/2006/relationships/tags" Target="../tags/tag75.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78.xml"/><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9.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image" Target="../media/image3.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526415" y="1642110"/>
            <a:ext cx="11266170" cy="2220595"/>
          </a:xfrm>
        </p:spPr>
        <p:txBody>
          <a:bodyPr>
            <a:normAutofit/>
          </a:bodyPr>
          <a:lstStyle/>
          <a:p>
            <a:pPr algn="ctr"/>
            <a:r>
              <a:rPr lang="en-US" altLang="zh-CN" sz="7200" dirty="0">
                <a:ln w="22225">
                  <a:solidFill>
                    <a:schemeClr val="accent2"/>
                  </a:solidFill>
                  <a:prstDash val="solid"/>
                </a:ln>
                <a:solidFill>
                  <a:schemeClr val="accent2">
                    <a:lumMod val="40000"/>
                    <a:lumOff val="60000"/>
                  </a:schemeClr>
                </a:solidFill>
                <a:effectLst/>
                <a:latin typeface="思源黑体 CN Heavy" panose="020B0A00000000000000" charset="-122"/>
                <a:ea typeface="思源黑体 CN Heavy" panose="020B0A00000000000000" charset="-122"/>
                <a:cs typeface="思源黑体 CN Heavy" panose="020B0A00000000000000" charset="-122"/>
              </a:rPr>
              <a:t>Ai</a:t>
            </a:r>
            <a:r>
              <a:rPr lang="zh-CN" altLang="en-US" sz="7200" dirty="0">
                <a:ln w="22225">
                  <a:solidFill>
                    <a:schemeClr val="accent2"/>
                  </a:solidFill>
                  <a:prstDash val="solid"/>
                </a:ln>
                <a:solidFill>
                  <a:schemeClr val="accent2">
                    <a:lumMod val="40000"/>
                    <a:lumOff val="60000"/>
                  </a:schemeClr>
                </a:solidFill>
                <a:effectLst/>
                <a:latin typeface="思源黑体 CN Heavy" panose="020B0A00000000000000" charset="-122"/>
                <a:ea typeface="思源黑体 CN Heavy" panose="020B0A00000000000000" charset="-122"/>
                <a:cs typeface="思源黑体 CN Heavy" panose="020B0A00000000000000" charset="-122"/>
              </a:rPr>
              <a:t>场景模型制作</a:t>
            </a:r>
            <a:br>
              <a:rPr lang="zh-CN" altLang="en-US" sz="7200" dirty="0">
                <a:ln w="22225">
                  <a:solidFill>
                    <a:schemeClr val="accent2"/>
                  </a:solidFill>
                  <a:prstDash val="solid"/>
                </a:ln>
                <a:solidFill>
                  <a:schemeClr val="accent2">
                    <a:lumMod val="40000"/>
                    <a:lumOff val="60000"/>
                  </a:schemeClr>
                </a:solidFill>
                <a:effectLst/>
                <a:latin typeface="思源黑体 CN Heavy" panose="020B0A00000000000000" charset="-122"/>
                <a:ea typeface="思源黑体 CN Heavy" panose="020B0A00000000000000" charset="-122"/>
                <a:cs typeface="思源黑体 CN Heavy" panose="020B0A00000000000000" charset="-122"/>
              </a:rPr>
            </a:br>
            <a:r>
              <a:rPr lang="en-US" altLang="zh-CN" sz="4400" dirty="0">
                <a:ln w="22225">
                  <a:solidFill>
                    <a:schemeClr val="accent2"/>
                  </a:solidFill>
                  <a:prstDash val="solid"/>
                </a:ln>
                <a:solidFill>
                  <a:schemeClr val="accent2">
                    <a:lumMod val="40000"/>
                    <a:lumOff val="60000"/>
                  </a:schemeClr>
                </a:solidFill>
                <a:effectLst/>
                <a:latin typeface="思源黑体 CN Heavy" panose="020B0A00000000000000" charset="-122"/>
                <a:ea typeface="思源黑体 CN Heavy" panose="020B0A00000000000000" charset="-122"/>
                <a:cs typeface="思源黑体 CN Heavy" panose="020B0A00000000000000" charset="-122"/>
              </a:rPr>
              <a:t>- </a:t>
            </a:r>
            <a:r>
              <a:rPr lang="zh-CN" altLang="en-US" sz="4400" dirty="0">
                <a:ln w="22225">
                  <a:solidFill>
                    <a:schemeClr val="accent2"/>
                  </a:solidFill>
                  <a:prstDash val="solid"/>
                </a:ln>
                <a:solidFill>
                  <a:schemeClr val="accent2">
                    <a:lumMod val="40000"/>
                    <a:lumOff val="60000"/>
                  </a:schemeClr>
                </a:solidFill>
                <a:effectLst/>
                <a:latin typeface="思源黑体 CN Heavy" panose="020B0A00000000000000" charset="-122"/>
                <a:ea typeface="思源黑体 CN Heavy" panose="020B0A00000000000000" charset="-122"/>
                <a:cs typeface="思源黑体 CN Heavy" panose="020B0A00000000000000" charset="-122"/>
              </a:rPr>
              <a:t>利用</a:t>
            </a:r>
            <a:r>
              <a:rPr lang="en-US" altLang="zh-CN" sz="4400" dirty="0">
                <a:ln w="22225">
                  <a:solidFill>
                    <a:schemeClr val="accent2"/>
                  </a:solidFill>
                  <a:prstDash val="solid"/>
                </a:ln>
                <a:solidFill>
                  <a:schemeClr val="accent2">
                    <a:lumMod val="40000"/>
                    <a:lumOff val="60000"/>
                  </a:schemeClr>
                </a:solidFill>
                <a:effectLst/>
                <a:latin typeface="思源黑体 CN Heavy" panose="020B0A00000000000000" charset="-122"/>
                <a:ea typeface="思源黑体 CN Heavy" panose="020B0A00000000000000" charset="-122"/>
                <a:cs typeface="思源黑体 CN Heavy" panose="020B0A00000000000000" charset="-122"/>
              </a:rPr>
              <a:t>Ai</a:t>
            </a:r>
            <a:r>
              <a:rPr lang="zh-CN" altLang="en-US" sz="4400" dirty="0">
                <a:ln w="22225">
                  <a:solidFill>
                    <a:schemeClr val="accent2"/>
                  </a:solidFill>
                  <a:prstDash val="solid"/>
                </a:ln>
                <a:solidFill>
                  <a:schemeClr val="accent2">
                    <a:lumMod val="40000"/>
                    <a:lumOff val="60000"/>
                  </a:schemeClr>
                </a:solidFill>
                <a:effectLst/>
                <a:latin typeface="思源黑体 CN Heavy" panose="020B0A00000000000000" charset="-122"/>
                <a:ea typeface="思源黑体 CN Heavy" panose="020B0A00000000000000" charset="-122"/>
                <a:cs typeface="思源黑体 CN Heavy" panose="020B0A00000000000000" charset="-122"/>
              </a:rPr>
              <a:t>工具辅助建模分享</a:t>
            </a:r>
            <a:r>
              <a:rPr lang="en-US" altLang="zh-CN" sz="4400" dirty="0">
                <a:ln w="22225">
                  <a:solidFill>
                    <a:schemeClr val="accent2"/>
                  </a:solidFill>
                  <a:prstDash val="solid"/>
                </a:ln>
                <a:solidFill>
                  <a:schemeClr val="accent2">
                    <a:lumMod val="40000"/>
                    <a:lumOff val="60000"/>
                  </a:schemeClr>
                </a:solidFill>
                <a:effectLst/>
                <a:latin typeface="思源黑体 CN Heavy" panose="020B0A00000000000000" charset="-122"/>
                <a:ea typeface="思源黑体 CN Heavy" panose="020B0A00000000000000" charset="-122"/>
                <a:cs typeface="思源黑体 CN Heavy" panose="020B0A00000000000000" charset="-122"/>
              </a:rPr>
              <a:t> -</a:t>
            </a:r>
            <a:endParaRPr lang="en-US" altLang="zh-CN" sz="4400" dirty="0">
              <a:ln w="22225">
                <a:solidFill>
                  <a:schemeClr val="accent2"/>
                </a:solidFill>
                <a:prstDash val="solid"/>
              </a:ln>
              <a:solidFill>
                <a:schemeClr val="accent2">
                  <a:lumMod val="40000"/>
                  <a:lumOff val="60000"/>
                </a:schemeClr>
              </a:solidFill>
              <a:effectLst/>
              <a:latin typeface="思源黑体 CN Heavy" panose="020B0A00000000000000" charset="-122"/>
              <a:ea typeface="思源黑体 CN Heavy" panose="020B0A00000000000000" charset="-122"/>
              <a:cs typeface="思源黑体 CN Heavy" panose="020B0A00000000000000" charset="-122"/>
            </a:endParaRPr>
          </a:p>
        </p:txBody>
      </p:sp>
      <p:sp>
        <p:nvSpPr>
          <p:cNvPr id="3" name="副标题 2"/>
          <p:cNvSpPr>
            <a:spLocks noGrp="1"/>
          </p:cNvSpPr>
          <p:nvPr>
            <p:ph type="subTitle" idx="1"/>
            <p:custDataLst>
              <p:tags r:id="rId3"/>
            </p:custDataLst>
          </p:nvPr>
        </p:nvSpPr>
        <p:spPr>
          <a:xfrm>
            <a:off x="1198880" y="3956050"/>
            <a:ext cx="9799320" cy="1090930"/>
          </a:xfrm>
        </p:spPr>
        <p:txBody>
          <a:bodyPr>
            <a:normAutofit fontScale="90000"/>
          </a:bodyPr>
          <a:lstStyle/>
          <a:p>
            <a:r>
              <a:rPr lang="en-US" altLang="zh-CN" sz="5400" b="1" dirty="0">
                <a:solidFill>
                  <a:schemeClr val="accent1"/>
                </a:solidFill>
                <a:effectLst>
                  <a:outerShdw blurRad="38100" dist="25400" dir="5400000" algn="ctr" rotWithShape="0">
                    <a:srgbClr val="6E747A">
                      <a:alpha val="43000"/>
                    </a:srgbClr>
                  </a:outerShdw>
                </a:effectLst>
              </a:rPr>
              <a:t>                                  </a:t>
            </a:r>
            <a:r>
              <a:rPr lang="en-US" altLang="zh-CN" sz="5400" b="1" dirty="0">
                <a:solidFill>
                  <a:schemeClr val="accent1">
                    <a:lumMod val="75000"/>
                  </a:schemeClr>
                </a:solidFill>
                <a:effectLst>
                  <a:outerShdw blurRad="38100" dist="25400" dir="5400000" algn="ctr" rotWithShape="0">
                    <a:srgbClr val="6E747A">
                      <a:alpha val="43000"/>
                    </a:srgbClr>
                  </a:outerShdw>
                </a:effectLst>
              </a:rPr>
              <a:t>-</a:t>
            </a:r>
            <a:r>
              <a:rPr lang="zh-CN" altLang="en-US" sz="5400" b="1" dirty="0">
                <a:solidFill>
                  <a:schemeClr val="accent1">
                    <a:lumMod val="75000"/>
                  </a:schemeClr>
                </a:solidFill>
                <a:effectLst>
                  <a:outerShdw blurRad="38100" dist="25400" dir="5400000" algn="ctr" rotWithShape="0">
                    <a:srgbClr val="6E747A">
                      <a:alpha val="43000"/>
                    </a:srgbClr>
                  </a:outerShdw>
                </a:effectLst>
              </a:rPr>
              <a:t>梁耀光</a:t>
            </a:r>
            <a:endParaRPr lang="zh-CN" altLang="en-US" sz="5400" b="1" dirty="0">
              <a:solidFill>
                <a:schemeClr val="accent1">
                  <a:lumMod val="75000"/>
                </a:schemeClr>
              </a:solidFill>
              <a:effectLst>
                <a:outerShdw blurRad="38100" dist="25400" dir="5400000" algn="ctr" rotWithShape="0">
                  <a:srgbClr val="6E747A">
                    <a:alpha val="43000"/>
                  </a:srgbClr>
                </a:outerShdw>
              </a:effectLst>
            </a:endParaRPr>
          </a:p>
        </p:txBody>
      </p:sp>
      <p:pic>
        <p:nvPicPr>
          <p:cNvPr id="4" name="图片 3" descr="游雁学院（渐变LOGO）"/>
          <p:cNvPicPr>
            <a:picLocks noChangeAspect="1"/>
          </p:cNvPicPr>
          <p:nvPr/>
        </p:nvPicPr>
        <p:blipFill>
          <a:blip r:embed="rId4"/>
          <a:stretch>
            <a:fillRect/>
          </a:stretch>
        </p:blipFill>
        <p:spPr>
          <a:xfrm>
            <a:off x="222250" y="60325"/>
            <a:ext cx="1344295" cy="535305"/>
          </a:xfrm>
          <a:prstGeom prst="rect">
            <a:avLst/>
          </a:prstGeom>
        </p:spPr>
      </p:pic>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custDataLst>
              <p:tags r:id="rId2"/>
            </p:custDataLst>
          </p:nvPr>
        </p:nvPicPr>
        <p:blipFill>
          <a:blip r:embed="rId3"/>
          <a:stretch>
            <a:fillRect/>
          </a:stretch>
        </p:blipFill>
        <p:spPr>
          <a:xfrm>
            <a:off x="24130" y="713105"/>
            <a:ext cx="12171680" cy="5460365"/>
          </a:xfrm>
          <a:prstGeom prst="rect">
            <a:avLst/>
          </a:prstGeom>
        </p:spPr>
      </p:pic>
      <p:sp>
        <p:nvSpPr>
          <p:cNvPr id="3" name="内容占位符 2"/>
          <p:cNvSpPr>
            <a:spLocks noGrp="1"/>
          </p:cNvSpPr>
          <p:nvPr>
            <p:ph idx="1"/>
          </p:nvPr>
        </p:nvSpPr>
        <p:spPr>
          <a:xfrm>
            <a:off x="478155" y="1152525"/>
            <a:ext cx="10968990" cy="881380"/>
          </a:xfrm>
        </p:spPr>
        <p:txBody>
          <a:bodyPr>
            <a:normAutofit/>
          </a:bodyPr>
          <a:lstStyle/>
          <a:p>
            <a:pPr marL="0" indent="749300" algn="just">
              <a:buNone/>
            </a:pPr>
            <a:r>
              <a:rPr lang="zh-CN" altLang="en-US" sz="2800" b="1" dirty="0">
                <a:solidFill>
                  <a:schemeClr val="accent1">
                    <a:lumMod val="40000"/>
                    <a:lumOff val="60000"/>
                  </a:schemeClr>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rPr>
              <a:t>话不多说，先上链接，感兴趣的同学可以进去看看</a:t>
            </a:r>
            <a:endParaRPr lang="zh-CN" altLang="en-US" sz="2800" b="1" dirty="0">
              <a:solidFill>
                <a:schemeClr val="accent1">
                  <a:lumMod val="40000"/>
                  <a:lumOff val="60000"/>
                </a:schemeClr>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endParaRPr>
          </a:p>
        </p:txBody>
      </p:sp>
      <p:sp>
        <p:nvSpPr>
          <p:cNvPr id="4" name="内容占位符 2"/>
          <p:cNvSpPr>
            <a:spLocks noGrp="1"/>
          </p:cNvSpPr>
          <p:nvPr/>
        </p:nvSpPr>
        <p:spPr>
          <a:xfrm>
            <a:off x="874395" y="2157730"/>
            <a:ext cx="10968990" cy="824865"/>
          </a:xfrm>
          <a:prstGeom prst="rect">
            <a:avLst/>
          </a:prstGeom>
          <a:ln w="12700" cmpd="sng">
            <a:noFill/>
            <a:prstDash val="solid"/>
          </a:ln>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749300" algn="just">
              <a:buNone/>
            </a:pPr>
            <a:r>
              <a:rPr lang="zh-CN" altLang="en-US" sz="2800" b="1" dirty="0">
                <a:solidFill>
                  <a:schemeClr val="accent1">
                    <a:lumMod val="40000"/>
                    <a:lumOff val="60000"/>
                  </a:schemeClr>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rPr>
              <a:t>https://hyperhuman.deemos.com/rodin</a:t>
            </a:r>
            <a:endParaRPr lang="zh-CN" altLang="en-US" sz="2800" b="1" dirty="0">
              <a:solidFill>
                <a:schemeClr val="accent1">
                  <a:lumMod val="40000"/>
                  <a:lumOff val="60000"/>
                </a:schemeClr>
              </a:solidFill>
              <a:effectLst>
                <a:outerShdw blurRad="38100" dist="19050" dir="2700000" algn="tl" rotWithShape="0">
                  <a:schemeClr val="dk1">
                    <a:alpha val="40000"/>
                  </a:schemeClr>
                </a:outerShdw>
              </a:effectLst>
              <a:latin typeface="楷体" panose="02010609060101010101" charset="-122"/>
              <a:ea typeface="楷体" panose="02010609060101010101" charset="-122"/>
              <a:cs typeface="楷体" panose="02010609060101010101" charset="-122"/>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custDataLst>
              <p:tags r:id="rId2"/>
            </p:custDataLst>
          </p:nvPr>
        </p:nvPicPr>
        <p:blipFill>
          <a:blip r:embed="rId3"/>
          <a:stretch>
            <a:fillRect/>
          </a:stretch>
        </p:blipFill>
        <p:spPr>
          <a:xfrm rot="5400000">
            <a:off x="3319463" y="-2643188"/>
            <a:ext cx="5515610" cy="12192635"/>
          </a:xfrm>
          <a:prstGeom prst="rect">
            <a:avLst/>
          </a:prstGeom>
        </p:spPr>
      </p:pic>
      <p:pic>
        <p:nvPicPr>
          <p:cNvPr id="6" name="图片 5" descr="微信图片_20250804152203_2"/>
          <p:cNvPicPr>
            <a:picLocks noChangeAspect="1"/>
          </p:cNvPicPr>
          <p:nvPr/>
        </p:nvPicPr>
        <p:blipFill>
          <a:blip r:embed="rId4"/>
          <a:stretch>
            <a:fillRect/>
          </a:stretch>
        </p:blipFill>
        <p:spPr>
          <a:xfrm>
            <a:off x="78105" y="752475"/>
            <a:ext cx="8615680" cy="4029710"/>
          </a:xfrm>
          <a:prstGeom prst="rect">
            <a:avLst/>
          </a:prstGeom>
        </p:spPr>
      </p:pic>
      <p:sp>
        <p:nvSpPr>
          <p:cNvPr id="3" name="文本框 2"/>
          <p:cNvSpPr txBox="1"/>
          <p:nvPr/>
        </p:nvSpPr>
        <p:spPr>
          <a:xfrm>
            <a:off x="448945" y="4883150"/>
            <a:ext cx="10339705" cy="1153795"/>
          </a:xfrm>
          <a:prstGeom prst="rect">
            <a:avLst/>
          </a:prstGeom>
          <a:noFill/>
        </p:spPr>
        <p:txBody>
          <a:bodyPr wrap="square" rtlCol="0">
            <a:spAutoFit/>
          </a:bodyPr>
          <a:lstStyle/>
          <a:p>
            <a:pPr indent="0">
              <a:buNone/>
            </a:pPr>
            <a:r>
              <a:rPr lang="en-US" sz="2400" dirty="0">
                <a:solidFill>
                  <a:schemeClr val="accent4">
                    <a:lumMod val="75000"/>
                  </a:schemeClr>
                </a:solidFill>
              </a:rPr>
              <a:t>1.</a:t>
            </a:r>
            <a:r>
              <a:rPr sz="2400" dirty="0">
                <a:solidFill>
                  <a:schemeClr val="accent4">
                    <a:lumMod val="75000"/>
                  </a:schemeClr>
                </a:solidFill>
              </a:rPr>
              <a:t>这个工具使用</a:t>
            </a:r>
            <a:r>
              <a:rPr lang="zh-CN" sz="2400" dirty="0">
                <a:solidFill>
                  <a:schemeClr val="accent4">
                    <a:lumMod val="75000"/>
                  </a:schemeClr>
                </a:solidFill>
              </a:rPr>
              <a:t>比较</a:t>
            </a:r>
            <a:r>
              <a:rPr sz="2400" dirty="0">
                <a:solidFill>
                  <a:schemeClr val="accent4">
                    <a:lumMod val="75000"/>
                  </a:schemeClr>
                </a:solidFill>
              </a:rPr>
              <a:t>简单，我们只需要进入网站，</a:t>
            </a:r>
            <a:r>
              <a:rPr lang="zh-CN" sz="2400" dirty="0">
                <a:solidFill>
                  <a:schemeClr val="accent4">
                    <a:lumMod val="75000"/>
                  </a:schemeClr>
                </a:solidFill>
              </a:rPr>
              <a:t>注册个账户就可以了。</a:t>
            </a:r>
            <a:r>
              <a:rPr sz="2400" dirty="0">
                <a:solidFill>
                  <a:schemeClr val="accent4">
                    <a:lumMod val="75000"/>
                  </a:schemeClr>
                </a:solidFill>
              </a:rPr>
              <a:t>然后点击加号上传图片</a:t>
            </a:r>
            <a:r>
              <a:rPr lang="zh-CN" sz="2400" dirty="0">
                <a:solidFill>
                  <a:schemeClr val="accent4">
                    <a:lumMod val="75000"/>
                  </a:schemeClr>
                </a:solidFill>
              </a:rPr>
              <a:t>，点击生成。</a:t>
            </a:r>
            <a:endParaRPr lang="zh-CN" sz="2400" dirty="0">
              <a:solidFill>
                <a:schemeClr val="accent4">
                  <a:lumMod val="75000"/>
                </a:schemeClr>
              </a:solidFill>
            </a:endParaRPr>
          </a:p>
          <a:p>
            <a:endParaRPr lang="zh-CN" altLang="en-US" sz="2000" dirty="0">
              <a:solidFill>
                <a:schemeClr val="accent4">
                  <a:lumMod val="75000"/>
                </a:schemeClr>
              </a:solidFill>
            </a:endParaRPr>
          </a:p>
        </p:txBody>
      </p:sp>
      <p:pic>
        <p:nvPicPr>
          <p:cNvPr id="8" name="图片 7"/>
          <p:cNvPicPr>
            <a:picLocks noChangeAspect="1"/>
          </p:cNvPicPr>
          <p:nvPr/>
        </p:nvPicPr>
        <p:blipFill>
          <a:blip r:embed="rId5"/>
          <a:stretch>
            <a:fillRect/>
          </a:stretch>
        </p:blipFill>
        <p:spPr>
          <a:xfrm>
            <a:off x="8422640" y="736600"/>
            <a:ext cx="3677285" cy="3038475"/>
          </a:xfrm>
          <a:prstGeom prst="rect">
            <a:avLst/>
          </a:prstGeom>
        </p:spPr>
      </p:pic>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8" name="图片 7" descr="玻璃背景"/>
          <p:cNvPicPr>
            <a:picLocks noChangeAspect="1"/>
          </p:cNvPicPr>
          <p:nvPr>
            <p:custDataLst>
              <p:tags r:id="rId2"/>
            </p:custDataLst>
          </p:nvPr>
        </p:nvPicPr>
        <p:blipFill>
          <a:blip r:embed="rId3"/>
          <a:stretch>
            <a:fillRect/>
          </a:stretch>
        </p:blipFill>
        <p:spPr>
          <a:xfrm rot="5400000">
            <a:off x="3305175" y="-2663825"/>
            <a:ext cx="5497830" cy="12192635"/>
          </a:xfrm>
          <a:prstGeom prst="rect">
            <a:avLst/>
          </a:prstGeom>
        </p:spPr>
      </p:pic>
      <p:sp>
        <p:nvSpPr>
          <p:cNvPr id="3" name="内容占位符 2"/>
          <p:cNvSpPr>
            <a:spLocks noGrp="1"/>
          </p:cNvSpPr>
          <p:nvPr>
            <p:ph idx="1"/>
          </p:nvPr>
        </p:nvSpPr>
        <p:spPr>
          <a:xfrm>
            <a:off x="174625" y="4975860"/>
            <a:ext cx="11805920" cy="967105"/>
          </a:xfrm>
        </p:spPr>
        <p:txBody>
          <a:bodyPr>
            <a:normAutofit lnSpcReduction="20000"/>
          </a:bodyPr>
          <a:lstStyle/>
          <a:p>
            <a:pPr marL="0" indent="0">
              <a:buNone/>
            </a:pPr>
            <a:r>
              <a:rPr lang="en-US" altLang="zh-CN" sz="2400" dirty="0">
                <a:solidFill>
                  <a:schemeClr val="accent4">
                    <a:lumMod val="75000"/>
                  </a:schemeClr>
                </a:solidFill>
              </a:rPr>
              <a:t>2.进去以后直接点击</a:t>
            </a:r>
            <a:r>
              <a:rPr lang="zh-CN" altLang="en-US" sz="2400" dirty="0">
                <a:solidFill>
                  <a:schemeClr val="accent4">
                    <a:lumMod val="75000"/>
                  </a:schemeClr>
                </a:solidFill>
              </a:rPr>
              <a:t>模型</a:t>
            </a:r>
            <a:r>
              <a:rPr lang="en-US" altLang="zh-CN" sz="2400" dirty="0">
                <a:solidFill>
                  <a:schemeClr val="accent4">
                    <a:lumMod val="75000"/>
                  </a:schemeClr>
                </a:solidFill>
              </a:rPr>
              <a:t>确认就可以生成模型了，生成效果不满意</a:t>
            </a:r>
            <a:r>
              <a:rPr lang="zh-CN" altLang="en-US" sz="2400" dirty="0">
                <a:solidFill>
                  <a:schemeClr val="accent4">
                    <a:lumMod val="75000"/>
                  </a:schemeClr>
                </a:solidFill>
              </a:rPr>
              <a:t>的话还</a:t>
            </a:r>
            <a:r>
              <a:rPr lang="en-US" altLang="zh-CN" sz="2400" dirty="0">
                <a:solidFill>
                  <a:schemeClr val="accent4">
                    <a:lumMod val="75000"/>
                  </a:schemeClr>
                </a:solidFill>
              </a:rPr>
              <a:t>可以再点重新生成</a:t>
            </a:r>
            <a:r>
              <a:rPr lang="zh-CN" altLang="en-US" sz="2400" dirty="0">
                <a:solidFill>
                  <a:schemeClr val="accent4">
                    <a:lumMod val="75000"/>
                  </a:schemeClr>
                </a:solidFill>
              </a:rPr>
              <a:t>。然后还可以使用右上角的历史按钮选择效果比较好的那个模型。</a:t>
            </a:r>
            <a:endParaRPr lang="zh-CN" altLang="en-US" sz="2400" dirty="0">
              <a:solidFill>
                <a:schemeClr val="accent4">
                  <a:lumMod val="75000"/>
                </a:schemeClr>
              </a:solidFill>
            </a:endParaRPr>
          </a:p>
        </p:txBody>
      </p:sp>
      <p:pic>
        <p:nvPicPr>
          <p:cNvPr id="9" name="图片 8"/>
          <p:cNvPicPr>
            <a:picLocks noChangeAspect="1"/>
          </p:cNvPicPr>
          <p:nvPr/>
        </p:nvPicPr>
        <p:blipFill>
          <a:blip r:embed="rId4"/>
          <a:stretch>
            <a:fillRect/>
          </a:stretch>
        </p:blipFill>
        <p:spPr>
          <a:xfrm>
            <a:off x="198120" y="750570"/>
            <a:ext cx="5934710" cy="3738880"/>
          </a:xfrm>
          <a:prstGeom prst="rect">
            <a:avLst/>
          </a:prstGeom>
        </p:spPr>
      </p:pic>
      <p:pic>
        <p:nvPicPr>
          <p:cNvPr id="10" name="图片 9" descr="微信图片_20250804152227_4"/>
          <p:cNvPicPr>
            <a:picLocks noChangeAspect="1"/>
          </p:cNvPicPr>
          <p:nvPr/>
        </p:nvPicPr>
        <p:blipFill>
          <a:blip r:embed="rId5"/>
          <a:stretch>
            <a:fillRect/>
          </a:stretch>
        </p:blipFill>
        <p:spPr>
          <a:xfrm>
            <a:off x="6200775" y="883920"/>
            <a:ext cx="5837555" cy="3488690"/>
          </a:xfrm>
          <a:prstGeom prst="rect">
            <a:avLst/>
          </a:prstGeom>
        </p:spPr>
      </p:pic>
    </p:spTree>
    <p:custDataLst>
      <p:tags r:id="rId6"/>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custDataLst>
              <p:tags r:id="rId2"/>
            </p:custDataLst>
          </p:nvPr>
        </p:nvPicPr>
        <p:blipFill>
          <a:blip r:embed="rId3"/>
          <a:stretch>
            <a:fillRect/>
          </a:stretch>
        </p:blipFill>
        <p:spPr>
          <a:xfrm>
            <a:off x="-18415" y="622300"/>
            <a:ext cx="12193905" cy="5513070"/>
          </a:xfrm>
          <a:prstGeom prst="rect">
            <a:avLst/>
          </a:prstGeom>
        </p:spPr>
      </p:pic>
      <p:sp>
        <p:nvSpPr>
          <p:cNvPr id="4" name="文本框 3"/>
          <p:cNvSpPr txBox="1"/>
          <p:nvPr/>
        </p:nvSpPr>
        <p:spPr>
          <a:xfrm>
            <a:off x="172085" y="5225415"/>
            <a:ext cx="11798300" cy="848995"/>
          </a:xfrm>
          <a:prstGeom prst="rect">
            <a:avLst/>
          </a:prstGeom>
          <a:noFill/>
        </p:spPr>
        <p:txBody>
          <a:bodyPr wrap="square" rtlCol="0" anchor="t">
            <a:spAutoFit/>
          </a:bodyPr>
          <a:p>
            <a:pPr marL="0" indent="0">
              <a:buNone/>
            </a:pPr>
            <a:r>
              <a:rPr lang="en-US" sz="2400" dirty="0">
                <a:solidFill>
                  <a:schemeClr val="accent4">
                    <a:lumMod val="75000"/>
                  </a:schemeClr>
                </a:solidFill>
                <a:sym typeface="+mn-ea"/>
              </a:rPr>
              <a:t>3.</a:t>
            </a:r>
            <a:r>
              <a:rPr sz="2400" dirty="0">
                <a:solidFill>
                  <a:schemeClr val="accent4">
                    <a:lumMod val="75000"/>
                  </a:schemeClr>
                </a:solidFill>
                <a:sym typeface="+mn-ea"/>
              </a:rPr>
              <a:t>确认没问题了再消耗点数生成</a:t>
            </a:r>
            <a:r>
              <a:rPr lang="zh-CN" sz="2400" dirty="0">
                <a:solidFill>
                  <a:schemeClr val="accent4">
                    <a:lumMod val="75000"/>
                  </a:schemeClr>
                </a:solidFill>
                <a:sym typeface="+mn-ea"/>
              </a:rPr>
              <a:t>模型</a:t>
            </a:r>
            <a:r>
              <a:rPr sz="2400" dirty="0">
                <a:solidFill>
                  <a:schemeClr val="accent4">
                    <a:lumMod val="75000"/>
                  </a:schemeClr>
                </a:solidFill>
                <a:sym typeface="+mn-ea"/>
              </a:rPr>
              <a:t>就行</a:t>
            </a:r>
            <a:r>
              <a:rPr lang="zh-CN" sz="2400" dirty="0">
                <a:solidFill>
                  <a:schemeClr val="accent4">
                    <a:lumMod val="75000"/>
                  </a:schemeClr>
                </a:solidFill>
                <a:sym typeface="+mn-ea"/>
              </a:rPr>
              <a:t>了。</a:t>
            </a:r>
            <a:r>
              <a:rPr sz="2400" dirty="0">
                <a:solidFill>
                  <a:schemeClr val="accent4">
                    <a:lumMod val="75000"/>
                  </a:schemeClr>
                </a:solidFill>
                <a:sym typeface="+mn-ea"/>
              </a:rPr>
              <a:t>生成模型以后</a:t>
            </a:r>
            <a:r>
              <a:rPr lang="zh-CN" sz="2400" dirty="0">
                <a:solidFill>
                  <a:schemeClr val="accent4">
                    <a:lumMod val="75000"/>
                  </a:schemeClr>
                </a:solidFill>
                <a:sym typeface="+mn-ea"/>
              </a:rPr>
              <a:t>还</a:t>
            </a:r>
            <a:r>
              <a:rPr sz="2400" dirty="0">
                <a:solidFill>
                  <a:schemeClr val="accent4">
                    <a:lumMod val="75000"/>
                  </a:schemeClr>
                </a:solidFill>
                <a:sym typeface="+mn-ea"/>
              </a:rPr>
              <a:t>可以配合右上角的</a:t>
            </a:r>
            <a:r>
              <a:rPr lang="zh-CN" sz="2400" dirty="0">
                <a:solidFill>
                  <a:schemeClr val="accent4">
                    <a:lumMod val="75000"/>
                  </a:schemeClr>
                </a:solidFill>
                <a:sym typeface="+mn-ea"/>
              </a:rPr>
              <a:t>模型编辑器</a:t>
            </a:r>
            <a:r>
              <a:rPr sz="2400" dirty="0">
                <a:solidFill>
                  <a:schemeClr val="accent4">
                    <a:lumMod val="75000"/>
                  </a:schemeClr>
                </a:solidFill>
                <a:sym typeface="+mn-ea"/>
              </a:rPr>
              <a:t>进行</a:t>
            </a:r>
            <a:r>
              <a:rPr lang="zh-CN" sz="2400" dirty="0">
                <a:solidFill>
                  <a:schemeClr val="accent4">
                    <a:lumMod val="75000"/>
                  </a:schemeClr>
                </a:solidFill>
                <a:sym typeface="+mn-ea"/>
              </a:rPr>
              <a:t>简单的</a:t>
            </a:r>
            <a:r>
              <a:rPr sz="2400" dirty="0">
                <a:solidFill>
                  <a:schemeClr val="accent4">
                    <a:lumMod val="75000"/>
                  </a:schemeClr>
                </a:solidFill>
                <a:sym typeface="+mn-ea"/>
              </a:rPr>
              <a:t>编辑，操作跟大部分三维软件一样</a:t>
            </a:r>
            <a:r>
              <a:rPr lang="zh-CN" sz="2400" dirty="0">
                <a:solidFill>
                  <a:schemeClr val="accent4">
                    <a:lumMod val="75000"/>
                  </a:schemeClr>
                </a:solidFill>
                <a:sym typeface="+mn-ea"/>
              </a:rPr>
              <a:t>。</a:t>
            </a:r>
            <a:endParaRPr lang="zh-CN" sz="2400" dirty="0">
              <a:solidFill>
                <a:schemeClr val="accent4">
                  <a:lumMod val="75000"/>
                </a:schemeClr>
              </a:solidFill>
              <a:sym typeface="+mn-ea"/>
            </a:endParaRPr>
          </a:p>
        </p:txBody>
      </p:sp>
      <p:pic>
        <p:nvPicPr>
          <p:cNvPr id="3" name="图片 2" descr="微信图片_20250804152232_5"/>
          <p:cNvPicPr>
            <a:picLocks noChangeAspect="1"/>
          </p:cNvPicPr>
          <p:nvPr/>
        </p:nvPicPr>
        <p:blipFill>
          <a:blip r:embed="rId4"/>
          <a:stretch>
            <a:fillRect/>
          </a:stretch>
        </p:blipFill>
        <p:spPr>
          <a:xfrm>
            <a:off x="6251575" y="649605"/>
            <a:ext cx="5852795" cy="2915920"/>
          </a:xfrm>
          <a:prstGeom prst="rect">
            <a:avLst/>
          </a:prstGeom>
        </p:spPr>
      </p:pic>
      <p:pic>
        <p:nvPicPr>
          <p:cNvPr id="2" name="图片 1" descr="微信图片_20250804152244_6"/>
          <p:cNvPicPr>
            <a:picLocks noChangeAspect="1"/>
          </p:cNvPicPr>
          <p:nvPr/>
        </p:nvPicPr>
        <p:blipFill>
          <a:blip r:embed="rId5"/>
          <a:stretch>
            <a:fillRect/>
          </a:stretch>
        </p:blipFill>
        <p:spPr>
          <a:xfrm>
            <a:off x="26670" y="712470"/>
            <a:ext cx="6672580" cy="4072255"/>
          </a:xfrm>
          <a:prstGeom prst="rect">
            <a:avLst/>
          </a:prstGeom>
        </p:spPr>
      </p:pic>
    </p:spTree>
    <p:custDataLst>
      <p:tags r:id="rId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custDataLst>
              <p:tags r:id="rId2"/>
            </p:custDataLst>
          </p:nvPr>
        </p:nvPicPr>
        <p:blipFill>
          <a:blip r:embed="rId3"/>
          <a:stretch>
            <a:fillRect/>
          </a:stretch>
        </p:blipFill>
        <p:spPr>
          <a:xfrm>
            <a:off x="40005" y="645160"/>
            <a:ext cx="12150090" cy="5518150"/>
          </a:xfrm>
          <a:prstGeom prst="rect">
            <a:avLst/>
          </a:prstGeom>
        </p:spPr>
      </p:pic>
      <p:sp>
        <p:nvSpPr>
          <p:cNvPr id="8" name="标题 3"/>
          <p:cNvSpPr>
            <a:spLocks noGrp="1"/>
          </p:cNvSpPr>
          <p:nvPr/>
        </p:nvSpPr>
        <p:spPr>
          <a:xfrm>
            <a:off x="4403725" y="751840"/>
            <a:ext cx="1654175" cy="339852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endParaRPr lang="zh-CN" altLang="en-US" dirty="0">
              <a:solidFill>
                <a:srgbClr val="00B0F0"/>
              </a:solidFill>
              <a:latin typeface="思源黑体 CN Bold" panose="020B0800000000000000" charset="-122"/>
              <a:ea typeface="思源黑体 CN Bold" panose="020B0800000000000000" charset="-122"/>
              <a:cs typeface="思源黑体 CN Bold" panose="020B0800000000000000" charset="-122"/>
              <a:sym typeface="+mn-ea"/>
            </a:endParaRPr>
          </a:p>
        </p:txBody>
      </p:sp>
      <p:sp>
        <p:nvSpPr>
          <p:cNvPr id="2" name="文本框 1"/>
          <p:cNvSpPr txBox="1"/>
          <p:nvPr/>
        </p:nvSpPr>
        <p:spPr>
          <a:xfrm>
            <a:off x="165100" y="5281295"/>
            <a:ext cx="11659870" cy="483235"/>
          </a:xfrm>
          <a:prstGeom prst="rect">
            <a:avLst/>
          </a:prstGeom>
          <a:noFill/>
        </p:spPr>
        <p:txBody>
          <a:bodyPr wrap="square" rtlCol="0" anchor="t">
            <a:spAutoFit/>
          </a:bodyPr>
          <a:p>
            <a:pPr marL="0" indent="0">
              <a:buNone/>
            </a:pPr>
            <a:r>
              <a:rPr lang="en-US" altLang="zh-CN" sz="2400" dirty="0">
                <a:solidFill>
                  <a:schemeClr val="accent4">
                    <a:lumMod val="75000"/>
                  </a:schemeClr>
                </a:solidFill>
                <a:sym typeface="+mn-ea"/>
              </a:rPr>
              <a:t>4.</a:t>
            </a:r>
            <a:r>
              <a:rPr sz="2400" dirty="0">
                <a:solidFill>
                  <a:schemeClr val="accent4">
                    <a:lumMod val="75000"/>
                  </a:schemeClr>
                </a:solidFill>
                <a:sym typeface="+mn-ea"/>
              </a:rPr>
              <a:t>模型没问题后</a:t>
            </a:r>
            <a:r>
              <a:rPr lang="zh-CN" sz="2400" dirty="0">
                <a:solidFill>
                  <a:schemeClr val="accent4">
                    <a:lumMod val="75000"/>
                  </a:schemeClr>
                </a:solidFill>
                <a:sym typeface="+mn-ea"/>
              </a:rPr>
              <a:t>把</a:t>
            </a:r>
            <a:r>
              <a:rPr lang="en-US" altLang="zh-CN" sz="2400" dirty="0">
                <a:solidFill>
                  <a:schemeClr val="accent4">
                    <a:lumMod val="75000"/>
                  </a:schemeClr>
                </a:solidFill>
                <a:sym typeface="+mn-ea"/>
              </a:rPr>
              <a:t>PBR</a:t>
            </a:r>
            <a:r>
              <a:rPr lang="zh-CN" altLang="en-US" sz="2400" dirty="0">
                <a:solidFill>
                  <a:schemeClr val="accent4">
                    <a:lumMod val="75000"/>
                  </a:schemeClr>
                </a:solidFill>
                <a:sym typeface="+mn-ea"/>
              </a:rPr>
              <a:t>细节和参考强度开到最大，然后就可以生成材质</a:t>
            </a:r>
            <a:r>
              <a:rPr lang="zh-CN" altLang="en-US" sz="2400" dirty="0">
                <a:solidFill>
                  <a:schemeClr val="accent4">
                    <a:lumMod val="75000"/>
                  </a:schemeClr>
                </a:solidFill>
                <a:sym typeface="+mn-ea"/>
              </a:rPr>
              <a:t>贴图了。</a:t>
            </a:r>
            <a:endParaRPr lang="zh-CN" altLang="en-US" sz="2400" dirty="0">
              <a:solidFill>
                <a:schemeClr val="accent4">
                  <a:lumMod val="75000"/>
                </a:schemeClr>
              </a:solidFill>
              <a:sym typeface="+mn-ea"/>
            </a:endParaRPr>
          </a:p>
        </p:txBody>
      </p:sp>
      <p:pic>
        <p:nvPicPr>
          <p:cNvPr id="4" name="图片 3" descr="微信图片_20250804152316_7"/>
          <p:cNvPicPr>
            <a:picLocks noChangeAspect="1"/>
          </p:cNvPicPr>
          <p:nvPr/>
        </p:nvPicPr>
        <p:blipFill>
          <a:blip r:embed="rId4"/>
          <a:stretch>
            <a:fillRect/>
          </a:stretch>
        </p:blipFill>
        <p:spPr>
          <a:xfrm>
            <a:off x="221615" y="696595"/>
            <a:ext cx="7094855" cy="4479290"/>
          </a:xfrm>
          <a:prstGeom prst="rect">
            <a:avLst/>
          </a:prstGeom>
        </p:spPr>
      </p:pic>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custDataLst>
              <p:tags r:id="rId2"/>
            </p:custDataLst>
          </p:nvPr>
        </p:nvPicPr>
        <p:blipFill>
          <a:blip r:embed="rId3"/>
          <a:stretch>
            <a:fillRect/>
          </a:stretch>
        </p:blipFill>
        <p:spPr>
          <a:xfrm>
            <a:off x="-10795" y="691515"/>
            <a:ext cx="12207240" cy="5518150"/>
          </a:xfrm>
          <a:prstGeom prst="rect">
            <a:avLst/>
          </a:prstGeom>
        </p:spPr>
      </p:pic>
      <p:sp>
        <p:nvSpPr>
          <p:cNvPr id="2" name="文本框 1"/>
          <p:cNvSpPr txBox="1"/>
          <p:nvPr/>
        </p:nvSpPr>
        <p:spPr>
          <a:xfrm>
            <a:off x="79375" y="5093970"/>
            <a:ext cx="11958955" cy="1397635"/>
          </a:xfrm>
          <a:prstGeom prst="rect">
            <a:avLst/>
          </a:prstGeom>
          <a:noFill/>
        </p:spPr>
        <p:txBody>
          <a:bodyPr wrap="square" rtlCol="0" anchor="t">
            <a:spAutoFit/>
          </a:bodyPr>
          <a:p>
            <a:pPr marL="0" indent="0">
              <a:buNone/>
            </a:pPr>
            <a:r>
              <a:rPr lang="en-US" altLang="zh-CN" sz="2400" dirty="0">
                <a:solidFill>
                  <a:schemeClr val="accent4">
                    <a:lumMod val="75000"/>
                  </a:schemeClr>
                </a:solidFill>
                <a:sym typeface="+mn-ea"/>
              </a:rPr>
              <a:t>5.</a:t>
            </a:r>
            <a:r>
              <a:rPr lang="zh-CN" altLang="en-US" sz="2400" dirty="0">
                <a:solidFill>
                  <a:schemeClr val="accent4">
                    <a:lumMod val="75000"/>
                  </a:schemeClr>
                </a:solidFill>
                <a:sym typeface="+mn-ea"/>
              </a:rPr>
              <a:t>最后是导出，设置导出布线后的模型、LOD模型以及高面数模型，导出格式也可以有很多格式可选，最主要的是它可以直接生成我们经常用到的PBR贴图。</a:t>
            </a:r>
            <a:endParaRPr lang="zh-CN" altLang="en-US" sz="2400" dirty="0">
              <a:solidFill>
                <a:schemeClr val="accent4">
                  <a:lumMod val="75000"/>
                </a:schemeClr>
              </a:solidFill>
              <a:sym typeface="+mn-ea"/>
            </a:endParaRPr>
          </a:p>
          <a:p>
            <a:pPr marL="0" indent="0">
              <a:buNone/>
            </a:pPr>
            <a:endParaRPr lang="zh-CN" altLang="en-US" dirty="0">
              <a:solidFill>
                <a:schemeClr val="accent4">
                  <a:lumMod val="75000"/>
                </a:schemeClr>
              </a:solidFill>
              <a:sym typeface="+mn-ea"/>
            </a:endParaRPr>
          </a:p>
          <a:p>
            <a:pPr marL="0" indent="0">
              <a:buNone/>
            </a:pPr>
            <a:endParaRPr lang="zh-CN" altLang="en-US" dirty="0">
              <a:solidFill>
                <a:schemeClr val="accent4">
                  <a:lumMod val="75000"/>
                </a:schemeClr>
              </a:solidFill>
              <a:sym typeface="+mn-ea"/>
            </a:endParaRPr>
          </a:p>
        </p:txBody>
      </p:sp>
      <p:pic>
        <p:nvPicPr>
          <p:cNvPr id="6" name="图片 5"/>
          <p:cNvPicPr>
            <a:picLocks noChangeAspect="1"/>
          </p:cNvPicPr>
          <p:nvPr/>
        </p:nvPicPr>
        <p:blipFill>
          <a:blip r:embed="rId4"/>
          <a:stretch>
            <a:fillRect/>
          </a:stretch>
        </p:blipFill>
        <p:spPr>
          <a:xfrm>
            <a:off x="20320" y="770255"/>
            <a:ext cx="6978650" cy="4269105"/>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nvPicPr>
        <p:blipFill>
          <a:blip r:embed="rId2"/>
          <a:stretch>
            <a:fillRect/>
          </a:stretch>
        </p:blipFill>
        <p:spPr>
          <a:xfrm>
            <a:off x="9525" y="616585"/>
            <a:ext cx="12192635" cy="5534025"/>
          </a:xfrm>
          <a:prstGeom prst="rect">
            <a:avLst/>
          </a:prstGeom>
        </p:spPr>
      </p:pic>
      <p:pic>
        <p:nvPicPr>
          <p:cNvPr id="2" name="图片 1"/>
          <p:cNvPicPr>
            <a:picLocks noChangeAspect="1"/>
          </p:cNvPicPr>
          <p:nvPr/>
        </p:nvPicPr>
        <p:blipFill>
          <a:blip r:embed="rId3"/>
          <a:stretch>
            <a:fillRect/>
          </a:stretch>
        </p:blipFill>
        <p:spPr>
          <a:xfrm>
            <a:off x="102870" y="709295"/>
            <a:ext cx="12014200" cy="3930650"/>
          </a:xfrm>
          <a:prstGeom prst="rect">
            <a:avLst/>
          </a:prstGeom>
        </p:spPr>
      </p:pic>
      <p:sp>
        <p:nvSpPr>
          <p:cNvPr id="3" name="文本框 2"/>
          <p:cNvSpPr txBox="1"/>
          <p:nvPr/>
        </p:nvSpPr>
        <p:spPr>
          <a:xfrm>
            <a:off x="156845" y="4876800"/>
            <a:ext cx="8465820" cy="384810"/>
          </a:xfrm>
          <a:prstGeom prst="rect">
            <a:avLst/>
          </a:prstGeom>
          <a:noFill/>
        </p:spPr>
        <p:txBody>
          <a:bodyPr wrap="square" rtlCol="0" anchor="t">
            <a:spAutoFit/>
          </a:bodyPr>
          <a:p>
            <a:pPr marL="0" indent="0">
              <a:buNone/>
            </a:pPr>
            <a:r>
              <a:rPr lang="en-US" altLang="zh-CN" dirty="0">
                <a:solidFill>
                  <a:schemeClr val="accent4">
                    <a:lumMod val="75000"/>
                  </a:schemeClr>
                </a:solidFill>
                <a:sym typeface="+mn-ea"/>
              </a:rPr>
              <a:t>6.</a:t>
            </a:r>
            <a:r>
              <a:rPr lang="zh-CN" altLang="en-US" dirty="0">
                <a:solidFill>
                  <a:schemeClr val="accent4">
                    <a:lumMod val="75000"/>
                  </a:schemeClr>
                </a:solidFill>
                <a:sym typeface="+mn-ea"/>
              </a:rPr>
              <a:t>这是下载下来的贴图和</a:t>
            </a:r>
            <a:r>
              <a:rPr lang="en-US" altLang="zh-CN" dirty="0">
                <a:solidFill>
                  <a:schemeClr val="accent4">
                    <a:lumMod val="75000"/>
                  </a:schemeClr>
                </a:solidFill>
                <a:sym typeface="+mn-ea"/>
              </a:rPr>
              <a:t>FBX</a:t>
            </a:r>
            <a:r>
              <a:rPr lang="zh-CN" altLang="en-US" dirty="0">
                <a:solidFill>
                  <a:schemeClr val="accent4">
                    <a:lumMod val="75000"/>
                  </a:schemeClr>
                </a:solidFill>
                <a:sym typeface="+mn-ea"/>
              </a:rPr>
              <a:t>文件</a:t>
            </a:r>
            <a:r>
              <a:rPr lang="zh-CN" altLang="en-US" dirty="0">
                <a:solidFill>
                  <a:schemeClr val="accent4">
                    <a:lumMod val="75000"/>
                  </a:schemeClr>
                </a:solidFill>
                <a:sym typeface="+mn-ea"/>
              </a:rPr>
              <a:t>。</a:t>
            </a:r>
            <a:endParaRPr lang="zh-CN" altLang="en-US" dirty="0">
              <a:solidFill>
                <a:schemeClr val="accent4">
                  <a:lumMod val="75000"/>
                </a:schemeClr>
              </a:solidFill>
              <a:sym typeface="+mn-ea"/>
            </a:endParaRPr>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nvPicPr>
        <p:blipFill>
          <a:blip r:embed="rId2"/>
          <a:stretch>
            <a:fillRect/>
          </a:stretch>
        </p:blipFill>
        <p:spPr>
          <a:xfrm>
            <a:off x="16510" y="689610"/>
            <a:ext cx="12190730" cy="5536565"/>
          </a:xfrm>
          <a:prstGeom prst="rect">
            <a:avLst/>
          </a:prstGeom>
        </p:spPr>
      </p:pic>
      <p:pic>
        <p:nvPicPr>
          <p:cNvPr id="11" name="图片 10"/>
          <p:cNvPicPr>
            <a:picLocks noChangeAspect="1"/>
          </p:cNvPicPr>
          <p:nvPr/>
        </p:nvPicPr>
        <p:blipFill>
          <a:blip r:embed="rId3"/>
          <a:stretch>
            <a:fillRect/>
          </a:stretch>
        </p:blipFill>
        <p:spPr>
          <a:xfrm>
            <a:off x="88265" y="756920"/>
            <a:ext cx="3158490" cy="2262505"/>
          </a:xfrm>
          <a:prstGeom prst="rect">
            <a:avLst/>
          </a:prstGeom>
        </p:spPr>
      </p:pic>
      <p:pic>
        <p:nvPicPr>
          <p:cNvPr id="12" name="图片 11"/>
          <p:cNvPicPr>
            <a:picLocks noChangeAspect="1"/>
          </p:cNvPicPr>
          <p:nvPr/>
        </p:nvPicPr>
        <p:blipFill>
          <a:blip r:embed="rId4"/>
          <a:stretch>
            <a:fillRect/>
          </a:stretch>
        </p:blipFill>
        <p:spPr>
          <a:xfrm>
            <a:off x="3359785" y="722630"/>
            <a:ext cx="3372485" cy="2409825"/>
          </a:xfrm>
          <a:prstGeom prst="rect">
            <a:avLst/>
          </a:prstGeom>
        </p:spPr>
      </p:pic>
      <p:pic>
        <p:nvPicPr>
          <p:cNvPr id="13" name="图片 12"/>
          <p:cNvPicPr>
            <a:picLocks noChangeAspect="1"/>
          </p:cNvPicPr>
          <p:nvPr/>
        </p:nvPicPr>
        <p:blipFill>
          <a:blip r:embed="rId5"/>
          <a:stretch>
            <a:fillRect/>
          </a:stretch>
        </p:blipFill>
        <p:spPr>
          <a:xfrm>
            <a:off x="8077200" y="713740"/>
            <a:ext cx="4032250" cy="2673350"/>
          </a:xfrm>
          <a:prstGeom prst="rect">
            <a:avLst/>
          </a:prstGeom>
        </p:spPr>
      </p:pic>
      <p:sp>
        <p:nvSpPr>
          <p:cNvPr id="15" name="文本框 14"/>
          <p:cNvSpPr txBox="1"/>
          <p:nvPr/>
        </p:nvSpPr>
        <p:spPr>
          <a:xfrm>
            <a:off x="300355" y="4488815"/>
            <a:ext cx="2907665" cy="848995"/>
          </a:xfrm>
          <a:prstGeom prst="rect">
            <a:avLst/>
          </a:prstGeom>
          <a:noFill/>
        </p:spPr>
        <p:txBody>
          <a:bodyPr wrap="square" rtlCol="0" anchor="t">
            <a:spAutoFit/>
          </a:bodyPr>
          <a:p>
            <a:pPr marL="0" indent="0">
              <a:buNone/>
            </a:pPr>
            <a:r>
              <a:rPr lang="zh-CN" altLang="en-US" sz="2400" dirty="0">
                <a:solidFill>
                  <a:schemeClr val="accent4">
                    <a:lumMod val="75000"/>
                  </a:schemeClr>
                </a:solidFill>
                <a:sym typeface="+mn-ea"/>
              </a:rPr>
              <a:t>对比一下</a:t>
            </a:r>
            <a:r>
              <a:rPr lang="en-US" altLang="zh-CN" sz="2400" dirty="0">
                <a:solidFill>
                  <a:schemeClr val="accent4">
                    <a:lumMod val="75000"/>
                  </a:schemeClr>
                </a:solidFill>
                <a:sym typeface="+mn-ea"/>
              </a:rPr>
              <a:t>ai</a:t>
            </a:r>
            <a:r>
              <a:rPr lang="zh-CN" altLang="en-US" sz="2400" dirty="0">
                <a:solidFill>
                  <a:schemeClr val="accent4">
                    <a:lumMod val="75000"/>
                  </a:schemeClr>
                </a:solidFill>
                <a:sym typeface="+mn-ea"/>
              </a:rPr>
              <a:t>生成的模型和</a:t>
            </a:r>
            <a:r>
              <a:rPr lang="en-US" altLang="zh-CN" sz="2400" dirty="0">
                <a:solidFill>
                  <a:schemeClr val="accent4">
                    <a:lumMod val="75000"/>
                  </a:schemeClr>
                </a:solidFill>
                <a:sym typeface="+mn-ea"/>
              </a:rPr>
              <a:t>uv</a:t>
            </a:r>
            <a:r>
              <a:rPr lang="zh-CN" altLang="en-US" sz="2400" dirty="0">
                <a:solidFill>
                  <a:schemeClr val="accent4">
                    <a:lumMod val="75000"/>
                  </a:schemeClr>
                </a:solidFill>
                <a:sym typeface="+mn-ea"/>
              </a:rPr>
              <a:t>。</a:t>
            </a:r>
            <a:endParaRPr lang="zh-CN" altLang="en-US" sz="2400" dirty="0">
              <a:solidFill>
                <a:schemeClr val="accent4">
                  <a:lumMod val="75000"/>
                </a:schemeClr>
              </a:solidFill>
              <a:sym typeface="+mn-ea"/>
            </a:endParaRPr>
          </a:p>
        </p:txBody>
      </p:sp>
      <p:pic>
        <p:nvPicPr>
          <p:cNvPr id="16" name="图片 15"/>
          <p:cNvPicPr>
            <a:picLocks noChangeAspect="1"/>
          </p:cNvPicPr>
          <p:nvPr/>
        </p:nvPicPr>
        <p:blipFill>
          <a:blip r:embed="rId6"/>
          <a:stretch>
            <a:fillRect/>
          </a:stretch>
        </p:blipFill>
        <p:spPr>
          <a:xfrm>
            <a:off x="3626485" y="3235325"/>
            <a:ext cx="2807335" cy="2778125"/>
          </a:xfrm>
          <a:prstGeom prst="rect">
            <a:avLst/>
          </a:prstGeom>
        </p:spPr>
      </p:pic>
      <p:pic>
        <p:nvPicPr>
          <p:cNvPr id="17" name="图片 16"/>
          <p:cNvPicPr>
            <a:picLocks noChangeAspect="1"/>
          </p:cNvPicPr>
          <p:nvPr/>
        </p:nvPicPr>
        <p:blipFill>
          <a:blip r:embed="rId7"/>
          <a:stretch>
            <a:fillRect/>
          </a:stretch>
        </p:blipFill>
        <p:spPr>
          <a:xfrm>
            <a:off x="6727190" y="3181350"/>
            <a:ext cx="2946400" cy="2887980"/>
          </a:xfrm>
          <a:prstGeom prst="rect">
            <a:avLst/>
          </a:prstGeom>
        </p:spPr>
      </p:pic>
    </p:spTree>
    <p:custDataLst>
      <p:tags r:id="rId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nvPicPr>
        <p:blipFill>
          <a:blip r:embed="rId2"/>
          <a:stretch>
            <a:fillRect/>
          </a:stretch>
        </p:blipFill>
        <p:spPr>
          <a:xfrm>
            <a:off x="9525" y="659130"/>
            <a:ext cx="12192000" cy="5520055"/>
          </a:xfrm>
          <a:prstGeom prst="rect">
            <a:avLst/>
          </a:prstGeom>
        </p:spPr>
      </p:pic>
      <p:pic>
        <p:nvPicPr>
          <p:cNvPr id="2" name="图片 1"/>
          <p:cNvPicPr>
            <a:picLocks noChangeAspect="1"/>
          </p:cNvPicPr>
          <p:nvPr/>
        </p:nvPicPr>
        <p:blipFill>
          <a:blip r:embed="rId3"/>
          <a:stretch>
            <a:fillRect/>
          </a:stretch>
        </p:blipFill>
        <p:spPr>
          <a:xfrm>
            <a:off x="100965" y="798830"/>
            <a:ext cx="4693285" cy="3141345"/>
          </a:xfrm>
          <a:prstGeom prst="rect">
            <a:avLst/>
          </a:prstGeom>
        </p:spPr>
      </p:pic>
      <p:pic>
        <p:nvPicPr>
          <p:cNvPr id="3" name="图片 2"/>
          <p:cNvPicPr>
            <a:picLocks noChangeAspect="1"/>
          </p:cNvPicPr>
          <p:nvPr/>
        </p:nvPicPr>
        <p:blipFill>
          <a:blip r:embed="rId4"/>
          <a:stretch>
            <a:fillRect/>
          </a:stretch>
        </p:blipFill>
        <p:spPr>
          <a:xfrm>
            <a:off x="5010785" y="683895"/>
            <a:ext cx="7011670" cy="4708525"/>
          </a:xfrm>
          <a:prstGeom prst="rect">
            <a:avLst/>
          </a:prstGeom>
        </p:spPr>
      </p:pic>
      <p:sp>
        <p:nvSpPr>
          <p:cNvPr id="15" name="文本框 14"/>
          <p:cNvSpPr txBox="1"/>
          <p:nvPr/>
        </p:nvSpPr>
        <p:spPr>
          <a:xfrm>
            <a:off x="654050" y="4463415"/>
            <a:ext cx="3388360" cy="483235"/>
          </a:xfrm>
          <a:prstGeom prst="rect">
            <a:avLst/>
          </a:prstGeom>
          <a:noFill/>
        </p:spPr>
        <p:txBody>
          <a:bodyPr wrap="square" rtlCol="0" anchor="t">
            <a:spAutoFit/>
          </a:bodyPr>
          <a:p>
            <a:pPr marL="0" indent="0">
              <a:buNone/>
            </a:pPr>
            <a:r>
              <a:rPr lang="en-US" altLang="zh-CN" sz="2400" dirty="0">
                <a:solidFill>
                  <a:schemeClr val="accent4">
                    <a:lumMod val="75000"/>
                  </a:schemeClr>
                </a:solidFill>
                <a:sym typeface="+mn-ea"/>
              </a:rPr>
              <a:t>ai</a:t>
            </a:r>
            <a:r>
              <a:rPr lang="zh-CN" altLang="en-US" sz="2400" dirty="0">
                <a:solidFill>
                  <a:schemeClr val="accent4">
                    <a:lumMod val="75000"/>
                  </a:schemeClr>
                </a:solidFill>
                <a:sym typeface="+mn-ea"/>
              </a:rPr>
              <a:t>生成模型</a:t>
            </a:r>
            <a:r>
              <a:rPr lang="zh-CN" altLang="en-US" sz="2400" dirty="0">
                <a:solidFill>
                  <a:schemeClr val="accent4">
                    <a:lumMod val="75000"/>
                  </a:schemeClr>
                </a:solidFill>
                <a:sym typeface="+mn-ea"/>
              </a:rPr>
              <a:t>最终的效果</a:t>
            </a:r>
            <a:r>
              <a:rPr lang="zh-CN" altLang="en-US" sz="2400" dirty="0">
                <a:solidFill>
                  <a:schemeClr val="accent4">
                    <a:lumMod val="75000"/>
                  </a:schemeClr>
                </a:solidFill>
                <a:sym typeface="+mn-ea"/>
              </a:rPr>
              <a:t>。</a:t>
            </a:r>
            <a:endParaRPr lang="zh-CN" altLang="en-US" sz="2400" dirty="0">
              <a:solidFill>
                <a:schemeClr val="accent4">
                  <a:lumMod val="75000"/>
                </a:schemeClr>
              </a:solidFill>
              <a:sym typeface="+mn-ea"/>
            </a:endParaRPr>
          </a:p>
        </p:txBody>
      </p:sp>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nvPicPr>
        <p:blipFill>
          <a:blip r:embed="rId2"/>
          <a:stretch>
            <a:fillRect/>
          </a:stretch>
        </p:blipFill>
        <p:spPr>
          <a:xfrm>
            <a:off x="9525" y="636905"/>
            <a:ext cx="12192000" cy="5523865"/>
          </a:xfrm>
          <a:prstGeom prst="rect">
            <a:avLst/>
          </a:prstGeom>
        </p:spPr>
      </p:pic>
      <p:sp>
        <p:nvSpPr>
          <p:cNvPr id="2" name="文本框 1"/>
          <p:cNvSpPr txBox="1"/>
          <p:nvPr/>
        </p:nvSpPr>
        <p:spPr>
          <a:xfrm>
            <a:off x="614680" y="714375"/>
            <a:ext cx="10165080" cy="3970655"/>
          </a:xfrm>
          <a:prstGeom prst="rect">
            <a:avLst/>
          </a:prstGeom>
          <a:noFill/>
        </p:spPr>
        <p:txBody>
          <a:bodyPr wrap="square" rtlCol="0" anchor="t">
            <a:spAutoFit/>
          </a:bodyPr>
          <a:p>
            <a:pPr marL="0" indent="0" algn="l">
              <a:buNone/>
            </a:pPr>
            <a:r>
              <a:rPr lang="zh-CN" altLang="en-US" sz="3600" dirty="0">
                <a:solidFill>
                  <a:schemeClr val="accent4">
                    <a:lumMod val="75000"/>
                  </a:schemeClr>
                </a:solidFill>
                <a:sym typeface="+mn-ea"/>
              </a:rPr>
              <a:t>最后总结一下：</a:t>
            </a:r>
            <a:endParaRPr lang="zh-CN" altLang="en-US" sz="3600" dirty="0">
              <a:solidFill>
                <a:schemeClr val="accent4">
                  <a:lumMod val="75000"/>
                </a:schemeClr>
              </a:solidFill>
              <a:sym typeface="+mn-ea"/>
            </a:endParaRPr>
          </a:p>
          <a:p>
            <a:pPr marL="0" indent="0" algn="l">
              <a:buNone/>
            </a:pPr>
            <a:r>
              <a:rPr lang="zh-CN" altLang="en-US" sz="3600" dirty="0">
                <a:solidFill>
                  <a:schemeClr val="accent4">
                    <a:lumMod val="75000"/>
                  </a:schemeClr>
                </a:solidFill>
                <a:sym typeface="+mn-ea"/>
              </a:rPr>
              <a:t>1</a:t>
            </a:r>
            <a:r>
              <a:rPr lang="en-US" altLang="zh-CN" sz="3600" dirty="0">
                <a:solidFill>
                  <a:schemeClr val="accent4">
                    <a:lumMod val="75000"/>
                  </a:schemeClr>
                </a:solidFill>
                <a:sym typeface="+mn-ea"/>
              </a:rPr>
              <a:t>.</a:t>
            </a:r>
            <a:r>
              <a:rPr lang="zh-CN" altLang="en-US" sz="3600" dirty="0">
                <a:solidFill>
                  <a:schemeClr val="accent4">
                    <a:lumMod val="75000"/>
                  </a:schemeClr>
                </a:solidFill>
                <a:sym typeface="+mn-ea"/>
              </a:rPr>
              <a:t>生成效果不好可以重复生成，并且免费重复生成</a:t>
            </a:r>
            <a:endParaRPr lang="zh-CN" altLang="en-US" sz="3600" dirty="0">
              <a:solidFill>
                <a:schemeClr val="accent4">
                  <a:lumMod val="75000"/>
                </a:schemeClr>
              </a:solidFill>
              <a:sym typeface="+mn-ea"/>
            </a:endParaRPr>
          </a:p>
          <a:p>
            <a:pPr marL="0" indent="0" algn="l">
              <a:buNone/>
            </a:pPr>
            <a:r>
              <a:rPr lang="zh-CN" altLang="en-US" sz="3600" dirty="0">
                <a:solidFill>
                  <a:schemeClr val="accent4">
                    <a:lumMod val="75000"/>
                  </a:schemeClr>
                </a:solidFill>
                <a:sym typeface="+mn-ea"/>
              </a:rPr>
              <a:t>2</a:t>
            </a:r>
            <a:r>
              <a:rPr lang="en-US" altLang="zh-CN" sz="3600" dirty="0">
                <a:solidFill>
                  <a:schemeClr val="accent4">
                    <a:lumMod val="75000"/>
                  </a:schemeClr>
                </a:solidFill>
                <a:sym typeface="+mn-ea"/>
              </a:rPr>
              <a:t>.</a:t>
            </a:r>
            <a:r>
              <a:rPr lang="zh-CN" altLang="en-US" sz="3600" dirty="0">
                <a:solidFill>
                  <a:schemeClr val="accent4">
                    <a:lumMod val="75000"/>
                  </a:schemeClr>
                </a:solidFill>
                <a:sym typeface="+mn-ea"/>
              </a:rPr>
              <a:t>可以导入多角度图片生成</a:t>
            </a:r>
            <a:endParaRPr lang="zh-CN" altLang="en-US" sz="3600" dirty="0">
              <a:solidFill>
                <a:schemeClr val="accent4">
                  <a:lumMod val="75000"/>
                </a:schemeClr>
              </a:solidFill>
              <a:sym typeface="+mn-ea"/>
            </a:endParaRPr>
          </a:p>
          <a:p>
            <a:pPr marL="0" indent="0" algn="l">
              <a:buNone/>
            </a:pPr>
            <a:r>
              <a:rPr lang="zh-CN" altLang="en-US" sz="3600" dirty="0">
                <a:solidFill>
                  <a:schemeClr val="accent4">
                    <a:lumMod val="75000"/>
                  </a:schemeClr>
                </a:solidFill>
                <a:sym typeface="+mn-ea"/>
              </a:rPr>
              <a:t>3</a:t>
            </a:r>
            <a:r>
              <a:rPr lang="en-US" altLang="zh-CN" sz="3600" dirty="0">
                <a:solidFill>
                  <a:schemeClr val="accent4">
                    <a:lumMod val="75000"/>
                  </a:schemeClr>
                </a:solidFill>
                <a:sym typeface="+mn-ea"/>
              </a:rPr>
              <a:t>.</a:t>
            </a:r>
            <a:r>
              <a:rPr lang="zh-CN" altLang="en-US" sz="3600" dirty="0">
                <a:solidFill>
                  <a:schemeClr val="accent4">
                    <a:lumMod val="75000"/>
                  </a:schemeClr>
                </a:solidFill>
                <a:sym typeface="+mn-ea"/>
              </a:rPr>
              <a:t>生成后的模型可以雕刻修改</a:t>
            </a:r>
            <a:endParaRPr lang="zh-CN" altLang="en-US" sz="3600" dirty="0">
              <a:solidFill>
                <a:schemeClr val="accent4">
                  <a:lumMod val="75000"/>
                </a:schemeClr>
              </a:solidFill>
              <a:sym typeface="+mn-ea"/>
            </a:endParaRPr>
          </a:p>
          <a:p>
            <a:pPr marL="0" indent="0" algn="l">
              <a:buNone/>
            </a:pPr>
            <a:r>
              <a:rPr lang="zh-CN" altLang="en-US" sz="3600" dirty="0">
                <a:solidFill>
                  <a:schemeClr val="accent4">
                    <a:lumMod val="75000"/>
                  </a:schemeClr>
                </a:solidFill>
                <a:sym typeface="+mn-ea"/>
              </a:rPr>
              <a:t>4</a:t>
            </a:r>
            <a:r>
              <a:rPr lang="en-US" altLang="zh-CN" sz="3600" dirty="0">
                <a:solidFill>
                  <a:schemeClr val="accent4">
                    <a:lumMod val="75000"/>
                  </a:schemeClr>
                </a:solidFill>
                <a:sym typeface="+mn-ea"/>
              </a:rPr>
              <a:t>.</a:t>
            </a:r>
            <a:r>
              <a:rPr lang="zh-CN" altLang="en-US" sz="3600" dirty="0">
                <a:solidFill>
                  <a:schemeClr val="accent4">
                    <a:lumMod val="75000"/>
                  </a:schemeClr>
                </a:solidFill>
                <a:sym typeface="+mn-ea"/>
              </a:rPr>
              <a:t>生成的模型可以自动布线</a:t>
            </a:r>
            <a:endParaRPr lang="zh-CN" altLang="en-US" sz="3600" dirty="0">
              <a:solidFill>
                <a:schemeClr val="accent4">
                  <a:lumMod val="75000"/>
                </a:schemeClr>
              </a:solidFill>
              <a:sym typeface="+mn-ea"/>
            </a:endParaRPr>
          </a:p>
          <a:p>
            <a:pPr marL="0" indent="0" algn="l">
              <a:buNone/>
            </a:pPr>
            <a:r>
              <a:rPr lang="zh-CN" altLang="en-US" sz="3600" dirty="0">
                <a:solidFill>
                  <a:schemeClr val="accent4">
                    <a:lumMod val="75000"/>
                  </a:schemeClr>
                </a:solidFill>
                <a:sym typeface="+mn-ea"/>
              </a:rPr>
              <a:t>5</a:t>
            </a:r>
            <a:r>
              <a:rPr lang="en-US" altLang="zh-CN" sz="3600" dirty="0">
                <a:solidFill>
                  <a:schemeClr val="accent4">
                    <a:lumMod val="75000"/>
                  </a:schemeClr>
                </a:solidFill>
                <a:sym typeface="+mn-ea"/>
              </a:rPr>
              <a:t>.</a:t>
            </a:r>
            <a:r>
              <a:rPr lang="zh-CN" altLang="en-US" sz="3600" dirty="0">
                <a:solidFill>
                  <a:schemeClr val="accent4">
                    <a:lumMod val="75000"/>
                  </a:schemeClr>
                </a:solidFill>
                <a:sym typeface="+mn-ea"/>
              </a:rPr>
              <a:t>自动生成多通道的PBR材质</a:t>
            </a:r>
            <a:endParaRPr lang="zh-CN" altLang="en-US" sz="3600" dirty="0">
              <a:solidFill>
                <a:schemeClr val="accent4">
                  <a:lumMod val="75000"/>
                </a:schemeClr>
              </a:solidFill>
              <a:sym typeface="+mn-ea"/>
            </a:endParaRPr>
          </a:p>
          <a:p>
            <a:pPr marL="0" indent="0" algn="l">
              <a:buNone/>
            </a:pPr>
            <a:endParaRPr lang="en-US" altLang="zh-CN" sz="3600" dirty="0">
              <a:solidFill>
                <a:schemeClr val="accent4">
                  <a:lumMod val="75000"/>
                </a:schemeClr>
              </a:solidFill>
              <a:sym typeface="+mn-ea"/>
            </a:endParaRPr>
          </a:p>
        </p:txBody>
      </p:sp>
      <p:sp>
        <p:nvSpPr>
          <p:cNvPr id="15" name="文本框 14"/>
          <p:cNvSpPr txBox="1"/>
          <p:nvPr/>
        </p:nvSpPr>
        <p:spPr>
          <a:xfrm>
            <a:off x="1699895" y="4184650"/>
            <a:ext cx="6635115" cy="1776095"/>
          </a:xfrm>
          <a:prstGeom prst="rect">
            <a:avLst/>
          </a:prstGeom>
          <a:noFill/>
        </p:spPr>
        <p:txBody>
          <a:bodyPr wrap="square" rtlCol="0" anchor="t">
            <a:spAutoFit/>
          </a:bodyPr>
          <a:p>
            <a:pPr marL="0" indent="0">
              <a:buNone/>
            </a:pPr>
            <a:r>
              <a:rPr lang="zh-CN" altLang="en-US" sz="3600" dirty="0">
                <a:solidFill>
                  <a:schemeClr val="accent6">
                    <a:lumMod val="75000"/>
                  </a:schemeClr>
                </a:solidFill>
                <a:sym typeface="+mn-ea"/>
              </a:rPr>
              <a:t>最重要的是可以辅助我们在做模型的时候快速找结构和造型比例还是比较</a:t>
            </a:r>
            <a:r>
              <a:rPr lang="zh-CN" altLang="en-US" sz="3600" dirty="0">
                <a:solidFill>
                  <a:schemeClr val="accent6">
                    <a:lumMod val="75000"/>
                  </a:schemeClr>
                </a:solidFill>
                <a:sym typeface="+mn-ea"/>
              </a:rPr>
              <a:t>方便的。</a:t>
            </a:r>
            <a:endParaRPr lang="zh-CN" altLang="en-US" sz="3600" dirty="0">
              <a:solidFill>
                <a:schemeClr val="accent6">
                  <a:lumMod val="75000"/>
                </a:schemeClr>
              </a:solidFill>
              <a:sym typeface="+mn-ea"/>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96000"/>
          </a:blip>
          <a:stretch>
            <a:fillRect/>
          </a:stretch>
        </a:blipFill>
        <a:effectLst/>
      </p:bgPr>
    </p:bg>
    <p:spTree>
      <p:nvGrpSpPr>
        <p:cNvPr id="1" name=""/>
        <p:cNvGrpSpPr/>
        <p:nvPr/>
      </p:nvGrpSpPr>
      <p:grpSpPr>
        <a:xfrm>
          <a:off x="0" y="0"/>
          <a:ext cx="0" cy="0"/>
          <a:chOff x="0" y="0"/>
          <a:chExt cx="0" cy="0"/>
        </a:xfrm>
      </p:grpSpPr>
      <p:pic>
        <p:nvPicPr>
          <p:cNvPr id="7" name="图片 6" descr="玻璃背景"/>
          <p:cNvPicPr>
            <a:picLocks noChangeAspect="1"/>
          </p:cNvPicPr>
          <p:nvPr/>
        </p:nvPicPr>
        <p:blipFill>
          <a:blip r:embed="rId2"/>
          <a:stretch>
            <a:fillRect/>
          </a:stretch>
        </p:blipFill>
        <p:spPr>
          <a:xfrm>
            <a:off x="9525" y="636905"/>
            <a:ext cx="12192000" cy="5523865"/>
          </a:xfrm>
          <a:prstGeom prst="rect">
            <a:avLst/>
          </a:prstGeom>
        </p:spPr>
      </p:pic>
      <p:sp>
        <p:nvSpPr>
          <p:cNvPr id="15" name="文本框 14"/>
          <p:cNvSpPr txBox="1"/>
          <p:nvPr/>
        </p:nvSpPr>
        <p:spPr>
          <a:xfrm>
            <a:off x="4695190" y="2278380"/>
            <a:ext cx="2308225" cy="1397000"/>
          </a:xfrm>
          <a:prstGeom prst="rect">
            <a:avLst/>
          </a:prstGeom>
          <a:noFill/>
        </p:spPr>
        <p:txBody>
          <a:bodyPr wrap="square" rtlCol="0" anchor="t">
            <a:spAutoFit/>
          </a:bodyPr>
          <a:p>
            <a:pPr marL="0" indent="0">
              <a:buNone/>
            </a:pPr>
            <a:r>
              <a:rPr lang="zh-CN" altLang="en-US" sz="8000" dirty="0">
                <a:solidFill>
                  <a:srgbClr val="FFFFFF"/>
                </a:solidFill>
                <a:sym typeface="+mn-ea"/>
              </a:rPr>
              <a:t>感谢</a:t>
            </a:r>
            <a:endParaRPr lang="zh-CN" altLang="en-US" sz="8000" dirty="0">
              <a:solidFill>
                <a:srgbClr val="FFFFFF"/>
              </a:solidFill>
              <a:sym typeface="+mn-ea"/>
            </a:endParaRPr>
          </a:p>
        </p:txBody>
      </p:sp>
      <p:pic>
        <p:nvPicPr>
          <p:cNvPr id="4" name="图片 3" descr="游雁学院（渐变LOGO）"/>
          <p:cNvPicPr>
            <a:picLocks noChangeAspect="1"/>
          </p:cNvPicPr>
          <p:nvPr/>
        </p:nvPicPr>
        <p:blipFill>
          <a:blip r:embed="rId3"/>
          <a:stretch>
            <a:fillRect/>
          </a:stretch>
        </p:blipFill>
        <p:spPr>
          <a:xfrm>
            <a:off x="222250" y="60325"/>
            <a:ext cx="1344295" cy="535305"/>
          </a:xfrm>
          <a:prstGeom prst="rect">
            <a:avLst/>
          </a:prstGeom>
        </p:spPr>
      </p:pic>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UNIT_PLACING_PICTURE_USER_VIEWPORT" val="{&quot;height&quot;:9640,&quot;width&quot;:18733}"/>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UNIT_PLACING_PICTURE_USER_VIEWPORT" val="{&quot;height&quot;:8014,&quot;width&quot;:9712}"/>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PLACING_PICTURE_USER_VIEWPORT" val="{&quot;height&quot;:8014,&quot;width&quot;:9712}"/>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UNIT_PLACING_PICTURE_USER_VIEWPORT" val="{&quot;height&quot;:9640,&quot;width&quot;:18733}"/>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UNIT_PLACING_PICTURE_USER_VIEWPORT" val="{&quot;height&quot;:9640,&quot;width&quot;:18733}"/>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PLACING_PICTURE_USER_VIEWPORT" val="{&quot;height&quot;:9640,&quot;width&quot;:18733}"/>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578</Words>
  <Application>WPS 演示</Application>
  <PresentationFormat>宽屏</PresentationFormat>
  <Paragraphs>39</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宋体</vt:lpstr>
      <vt:lpstr>Wingdings</vt:lpstr>
      <vt:lpstr>微软雅黑</vt:lpstr>
      <vt:lpstr>Wingdings</vt:lpstr>
      <vt:lpstr>思源黑体 CN Heavy</vt:lpstr>
      <vt:lpstr>黑体</vt:lpstr>
      <vt:lpstr>楷体</vt:lpstr>
      <vt:lpstr>思源黑体 CN Bold</vt:lpstr>
      <vt:lpstr>Arial Unicode MS</vt:lpstr>
      <vt:lpstr>Calibri</vt:lpstr>
      <vt:lpstr>Office 主题​​</vt:lpstr>
      <vt:lpstr>场景模型制作 利用Ai工具辅助建模分享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dc:creator>
  <cp:lastModifiedBy>Arkin-Hui</cp:lastModifiedBy>
  <cp:revision>207</cp:revision>
  <dcterms:created xsi:type="dcterms:W3CDTF">2019-06-19T02:08:00Z</dcterms:created>
  <dcterms:modified xsi:type="dcterms:W3CDTF">2025-08-13T02:38:02Z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E2A0CE782FA646A896877FDA352FDC0B</vt:lpwstr>
  </property>
</Properties>
</file>